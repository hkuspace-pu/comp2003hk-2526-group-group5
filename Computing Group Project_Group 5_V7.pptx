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81" r:id="rId6"/>
    <p:sldId id="261" r:id="rId7"/>
    <p:sldId id="282" r:id="rId8"/>
    <p:sldId id="262" r:id="rId9"/>
    <p:sldId id="278" r:id="rId10"/>
    <p:sldId id="279" r:id="rId11"/>
    <p:sldId id="280" r:id="rId12"/>
    <p:sldId id="275" r:id="rId13"/>
    <p:sldId id="283" r:id="rId14"/>
    <p:sldId id="284" r:id="rId15"/>
    <p:sldId id="286" r:id="rId16"/>
    <p:sldId id="287" r:id="rId17"/>
    <p:sldId id="276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1904467" y="2016343"/>
            <a:ext cx="7056654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rgbClr val="00B050"/>
                </a:solidFill>
              </a:rPr>
              <a:t>COMP2003HK</a:t>
            </a:r>
            <a:br>
              <a:rPr lang="pt-BR" altLang="zh-HK" sz="4200" b="1" dirty="0">
                <a:solidFill>
                  <a:srgbClr val="00B050"/>
                </a:solidFill>
              </a:rPr>
            </a:br>
            <a:r>
              <a:rPr lang="pt-BR" altLang="zh-HK" sz="4200" b="1" dirty="0">
                <a:solidFill>
                  <a:srgbClr val="00B050"/>
                </a:solidFill>
              </a:rPr>
              <a:t>Computing Group Project</a:t>
            </a:r>
            <a:endParaRPr lang="zh-TW" sz="4200" dirty="0">
              <a:solidFill>
                <a:srgbClr val="00B050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1904467" y="3662645"/>
            <a:ext cx="1806043" cy="655355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7C7A-27E1-1BFC-F620-2D816B91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>
            <a:extLst>
              <a:ext uri="{FF2B5EF4-FFF2-40B4-BE49-F238E27FC236}">
                <a16:creationId xmlns:a16="http://schemas.microsoft.com/office/drawing/2014/main" id="{7DCD91F7-094D-C1EF-F92D-4FD7450C7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5315" y="269241"/>
            <a:ext cx="8598907" cy="1320800"/>
          </a:xfrm>
        </p:spPr>
        <p:txBody>
          <a:bodyPr anchor="t">
            <a:normAutofit/>
          </a:bodyPr>
          <a:lstStyle/>
          <a:p>
            <a:pPr algn="ctr"/>
            <a:r>
              <a:rPr lang="pt-BR" altLang="zh-TW" b="1" dirty="0">
                <a:solidFill>
                  <a:schemeClr val="accent2"/>
                </a:solidFill>
              </a:rPr>
              <a:t> Project Planning </a:t>
            </a:r>
            <a:r>
              <a:rPr lang="pt-BR" altLang="zh-TW" b="1" dirty="0" err="1">
                <a:solidFill>
                  <a:schemeClr val="accent2"/>
                </a:solidFill>
              </a:rPr>
              <a:t>Process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86019" name="矩形 3">
            <a:extLst>
              <a:ext uri="{FF2B5EF4-FFF2-40B4-BE49-F238E27FC236}">
                <a16:creationId xmlns:a16="http://schemas.microsoft.com/office/drawing/2014/main" id="{38F3B01F-0296-1649-2543-78FBCEA29F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HK" dirty="0"/>
          </a:p>
          <a:p>
            <a:endParaRPr lang="zh-TW" dirty="0"/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7BC2DBA1-5829-65B5-5074-9147F803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30" y="1106098"/>
            <a:ext cx="6410204" cy="53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11231" y="181012"/>
            <a:ext cx="8598907" cy="1320800"/>
          </a:xfrm>
        </p:spPr>
        <p:txBody>
          <a:bodyPr anchor="t">
            <a:normAutofit/>
          </a:bodyPr>
          <a:lstStyle/>
          <a:p>
            <a:pPr algn="ctr"/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4A2ABF-C76B-2E8E-49FE-3DB494CEA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5078" y="1628476"/>
            <a:ext cx="4185124" cy="3880773"/>
          </a:xfrm>
        </p:spPr>
        <p:txBody>
          <a:bodyPr/>
          <a:lstStyle/>
          <a:p>
            <a:r>
              <a:rPr lang="en-US" altLang="zh-HK" b="1" dirty="0"/>
              <a:t>Interface</a:t>
            </a:r>
          </a:p>
          <a:p>
            <a:pPr marL="0" indent="0">
              <a:buNone/>
            </a:pPr>
            <a:r>
              <a:rPr lang="en-US" altLang="zh-HK" dirty="0"/>
              <a:t>	Light colors (beige and green) 	for a calm and  clear.</a:t>
            </a:r>
          </a:p>
          <a:p>
            <a:r>
              <a:rPr lang="en-US" altLang="zh-HK" b="1" dirty="0"/>
              <a:t>Easy Sign-up &amp; Login</a:t>
            </a:r>
          </a:p>
          <a:p>
            <a:pPr marL="0" indent="0">
              <a:buNone/>
            </a:pPr>
            <a:r>
              <a:rPr lang="en-US" altLang="zh-HK" dirty="0"/>
              <a:t>	The familiar design makes it 	user-friendly.</a:t>
            </a:r>
          </a:p>
          <a:p>
            <a:r>
              <a:rPr lang="en-US" altLang="zh-HK" b="1" dirty="0"/>
              <a:t>Security</a:t>
            </a:r>
          </a:p>
          <a:p>
            <a:pPr marL="0" indent="0">
              <a:buNone/>
            </a:pPr>
            <a:r>
              <a:rPr lang="en-US" altLang="zh-HK" dirty="0"/>
              <a:t>	Using a trusted provider like 	Google makes users feel secure 	about their data.</a:t>
            </a:r>
            <a:endParaRPr lang="zh-TW" altLang="zh-HK" dirty="0"/>
          </a:p>
          <a:p>
            <a:pPr marL="0" indent="0">
              <a:buNone/>
            </a:pPr>
            <a:endParaRPr lang="en-US" altLang="zh-HK" dirty="0"/>
          </a:p>
          <a:p>
            <a:pPr marL="0" indent="0">
              <a:buNone/>
            </a:pPr>
            <a:endParaRPr lang="zh-HK" altLang="en-US" dirty="0"/>
          </a:p>
        </p:txBody>
      </p:sp>
      <p:pic>
        <p:nvPicPr>
          <p:cNvPr id="9" name="內容版面配置區 8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8E12729C-6BBD-8922-A4D9-69B94D6455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52771" y="968076"/>
            <a:ext cx="2901976" cy="570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387F-40C0-5169-4AB4-A151AAE0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71" y="548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Aptos" panose="020B0004020202020204" pitchFamily="34" charset="0"/>
              </a:rPr>
              <a:t>Design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A1A01-15DF-DFA9-AAEB-144F16EC6635}"/>
              </a:ext>
            </a:extLst>
          </p:cNvPr>
          <p:cNvSpPr txBox="1"/>
          <p:nvPr/>
        </p:nvSpPr>
        <p:spPr>
          <a:xfrm>
            <a:off x="762000" y="1843950"/>
            <a:ext cx="10048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Gamification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Prioritized Our Functionalities.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Our Development Platform.</a:t>
            </a:r>
          </a:p>
        </p:txBody>
      </p:sp>
    </p:spTree>
    <p:extLst>
      <p:ext uri="{BB962C8B-B14F-4D97-AF65-F5344CB8AC3E}">
        <p14:creationId xmlns:p14="http://schemas.microsoft.com/office/powerpoint/2010/main" val="233224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585" y="111760"/>
            <a:ext cx="6282089" cy="68072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Gamification 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747967E-0A56-06CA-26C0-CE5471DE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5" y="1005840"/>
            <a:ext cx="2647860" cy="57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B00015-34D4-84EE-7A56-DB2A89524645}"/>
              </a:ext>
            </a:extLst>
          </p:cNvPr>
          <p:cNvSpPr txBox="1"/>
          <p:nvPr/>
        </p:nvSpPr>
        <p:spPr>
          <a:xfrm>
            <a:off x="3865979" y="1727200"/>
            <a:ext cx="61112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Users earn XP by completing focus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Spend XP to unlock building assets (trees, houses, roads)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Green spaces - drag &amp; drop areas for personal utopia</a:t>
            </a:r>
          </a:p>
        </p:txBody>
      </p:sp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2AB-7940-0425-5960-8A087E4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1" y="294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Prioritized &amp;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7DCC8-C551-C909-F8AC-16C161A2444C}"/>
              </a:ext>
            </a:extLst>
          </p:cNvPr>
          <p:cNvSpPr txBox="1"/>
          <p:nvPr/>
        </p:nvSpPr>
        <p:spPr>
          <a:xfrm>
            <a:off x="1226151" y="1415534"/>
            <a:ext cx="84455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 err="1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MoSCoW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  method:</a:t>
            </a:r>
          </a:p>
          <a:p>
            <a:endParaRPr lang="en-GB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Must-have feature: Focus timers, city building, and activity logging form our core value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Should-have feature: Dashboards and notifications boost daily usage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Could-have features: like custom city themes remain optional for future iterations.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Won't-have features: such as leaderboards or social sharing were excluded to maintain privacy focus and scope control.</a:t>
            </a:r>
            <a:endParaRPr lang="en-GB" sz="24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EE4E-F574-E68D-3D53-940DF6B4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8232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CC86-3684-8CF1-38F6-DA262C1B8EBD}"/>
              </a:ext>
            </a:extLst>
          </p:cNvPr>
          <p:cNvSpPr txBox="1"/>
          <p:nvPr/>
        </p:nvSpPr>
        <p:spPr>
          <a:xfrm>
            <a:off x="1057646" y="1843950"/>
            <a:ext cx="90007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Flutter: main development framework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Dart: programming language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SQLite: local database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D15E-754B-96A3-2BB8-F187D7C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80264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</a:rPr>
              <a:t>Why This Combination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1B98-C16B-9A72-7CCF-D8A9B7D39318}"/>
              </a:ext>
            </a:extLst>
          </p:cNvPr>
          <p:cNvSpPr txBox="1"/>
          <p:nvPr/>
        </p:nvSpPr>
        <p:spPr>
          <a:xfrm>
            <a:off x="825334" y="1930400"/>
            <a:ext cx="8857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Single codebase for Android plus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Smooth animations for 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Secure offline data storage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/>
              <a:t>Dashboard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3FF72BE7-D9D3-701D-62FF-085EC96ED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645" y="2160589"/>
            <a:ext cx="1794856" cy="3880772"/>
          </a:xfrm>
          <a:prstGeom prst="rect">
            <a:avLst/>
          </a:prstGeom>
          <a:noFill/>
        </p:spPr>
      </p:pic>
      <p:sp>
        <p:nvSpPr>
          <p:cNvPr id="96280" name="Content Placeholder 3">
            <a:extLst>
              <a:ext uri="{FF2B5EF4-FFF2-40B4-BE49-F238E27FC236}">
                <a16:creationId xmlns:a16="http://schemas.microsoft.com/office/drawing/2014/main" id="{20C39163-C217-8704-72AC-EE8D1E2DC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r>
              <a:rPr lang="en-US" b="1" dirty="0"/>
              <a:t>Dashboard Overview</a:t>
            </a:r>
            <a:br>
              <a:rPr lang="en-US" dirty="0"/>
            </a:br>
            <a:r>
              <a:rPr lang="en-US" dirty="0"/>
              <a:t>This dashboard provides users with a clear overview of their focus </a:t>
            </a:r>
            <a:r>
              <a:rPr lang="en-US" dirty="0" err="1"/>
              <a:t>behaviour</a:t>
            </a:r>
            <a:r>
              <a:rPr lang="en-US" dirty="0"/>
              <a:t> and wellbeing.</a:t>
            </a:r>
            <a:br>
              <a:rPr lang="en-US" dirty="0"/>
            </a:br>
            <a:r>
              <a:rPr lang="en-US" dirty="0"/>
              <a:t>It </a:t>
            </a:r>
            <a:r>
              <a:rPr lang="en-US" dirty="0" err="1"/>
              <a:t>summarises</a:t>
            </a:r>
            <a:r>
              <a:rPr lang="en-US" dirty="0"/>
              <a:t> daily focus time, weekly trends, logged activities, and mood records in a single screen.</a:t>
            </a:r>
            <a:br>
              <a:rPr lang="en-US" dirty="0"/>
            </a:br>
            <a:r>
              <a:rPr lang="en-US" dirty="0"/>
              <a:t>Visual elements such as charts and icons are used to help users quickly understand their progress and encourage continued engagement with the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0F61-BA37-C21D-B066-7FC85CFD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EADB0E5-1D6B-CF75-C761-F5D4B7B1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 dirty="0"/>
              <a:t>Notification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2E5935A0-12ED-8BC0-C584-72B53427BE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036" y="2160589"/>
            <a:ext cx="1790074" cy="3880772"/>
          </a:xfrm>
          <a:noFill/>
        </p:spPr>
      </p:pic>
      <p:sp>
        <p:nvSpPr>
          <p:cNvPr id="96280" name="Content Placeholder 3">
            <a:extLst>
              <a:ext uri="{FF2B5EF4-FFF2-40B4-BE49-F238E27FC236}">
                <a16:creationId xmlns:a16="http://schemas.microsoft.com/office/drawing/2014/main" id="{DDE8D32E-7431-31D5-B3E6-53F1F73C4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r>
              <a:rPr lang="en-US" b="1" dirty="0"/>
              <a:t>Notification Overview</a:t>
            </a:r>
            <a:br>
              <a:rPr lang="en-US" dirty="0"/>
            </a:br>
            <a:r>
              <a:rPr lang="en-US" dirty="0"/>
              <a:t>The notification feature supports users in building healthier focus habits.</a:t>
            </a:r>
            <a:br>
              <a:rPr lang="en-US" dirty="0"/>
            </a:br>
            <a:r>
              <a:rPr lang="en-US" dirty="0"/>
              <a:t>It provides timely reminders for focus sessions, breaks, and daily usage limits.</a:t>
            </a:r>
            <a:br>
              <a:rPr lang="en-US" dirty="0"/>
            </a:br>
            <a:r>
              <a:rPr lang="en-US" dirty="0"/>
              <a:t>Notifications are designed to gently guide users without being intrusive, helping them stay aware of their </a:t>
            </a:r>
            <a:r>
              <a:rPr lang="en-US" dirty="0" err="1"/>
              <a:t>behaviour</a:t>
            </a:r>
            <a:r>
              <a:rPr lang="en-US" dirty="0"/>
              <a:t> throughout the day.</a:t>
            </a:r>
          </a:p>
        </p:txBody>
      </p:sp>
    </p:spTree>
    <p:extLst>
      <p:ext uri="{BB962C8B-B14F-4D97-AF65-F5344CB8AC3E}">
        <p14:creationId xmlns:p14="http://schemas.microsoft.com/office/powerpoint/2010/main" val="324671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FB91-18ED-FD9E-34E3-A3ED8E90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87F45BDD-546E-1419-7BFD-DE156663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53752B-E584-D9B9-E5EA-8623FB14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11" y="1270000"/>
            <a:ext cx="2566410" cy="53673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35C51-52F1-BA2D-5E6E-977DD56AC995}"/>
              </a:ext>
            </a:extLst>
          </p:cNvPr>
          <p:cNvSpPr txBox="1"/>
          <p:nvPr/>
        </p:nvSpPr>
        <p:spPr>
          <a:xfrm>
            <a:off x="3243921" y="1912359"/>
            <a:ext cx="62819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Allows user to upload images or videos of evidence of offline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Allows user to add comments on the session or activity for their personal reflection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21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E4F4-1AB2-A6CB-FC65-D9EB2BF0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1C6EA575-C7F4-04B0-F226-4A5E05A9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2AE25-1DB7-D7CD-4D65-6278FEFE9D5D}"/>
              </a:ext>
            </a:extLst>
          </p:cNvPr>
          <p:cNvSpPr txBox="1"/>
          <p:nvPr/>
        </p:nvSpPr>
        <p:spPr>
          <a:xfrm>
            <a:off x="3243921" y="1912359"/>
            <a:ext cx="62819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Allow counselors, family/support group to see the details of each session and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can review each session and reflect on the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can also update the image or edit the comments if they wish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2D8E1-845D-9E62-B57A-FE4480C5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11" y="1270000"/>
            <a:ext cx="2566410" cy="526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6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8EA7-786C-7698-E9C9-C12CC1EE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1EAD671F-26F0-F940-2F67-CEF2B32E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Mood logging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96CF13-1AA8-CF85-E315-8084294110B4}"/>
              </a:ext>
            </a:extLst>
          </p:cNvPr>
          <p:cNvSpPr txBox="1"/>
          <p:nvPr/>
        </p:nvSpPr>
        <p:spPr>
          <a:xfrm>
            <a:off x="3243921" y="1912359"/>
            <a:ext cx="62819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Emoji slider is used to maintain ease of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can either click on the corresponding emoji or drag on the slide to log their mood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C4F04-C6DC-D606-0C9B-7FAC3FD1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39" y="1256233"/>
            <a:ext cx="2351662" cy="49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4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F395-2821-D6DE-59CA-D92EA6B2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51" y="284480"/>
            <a:ext cx="8598907" cy="711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Aptos" panose="020B0004020202020204" pitchFamily="34" charset="0"/>
              </a:rPr>
              <a:t>Setting  &amp; Account</a:t>
            </a:r>
            <a:endParaRPr lang="en-GB" b="1" dirty="0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6256F07-99B5-E66E-D1CA-68AC5F0F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1" y="1249703"/>
            <a:ext cx="2502569" cy="5425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6D68-8D1C-0E7B-E830-AC3B1B1D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07" y="1249702"/>
            <a:ext cx="2414225" cy="5323817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CDA00E9-2DC0-F076-3340-5F4B6EF599DE}"/>
              </a:ext>
            </a:extLst>
          </p:cNvPr>
          <p:cNvCxnSpPr/>
          <p:nvPr/>
        </p:nvCxnSpPr>
        <p:spPr>
          <a:xfrm>
            <a:off x="3749040" y="2021840"/>
            <a:ext cx="2785767" cy="1270000"/>
          </a:xfrm>
          <a:prstGeom prst="curved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9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</a:rPr>
              <a:t>Thank You</a:t>
            </a:r>
            <a:endParaRPr lang="zh-TW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3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272</TotalTime>
  <Words>437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Microsoft JhengHei UI</vt:lpstr>
      <vt:lpstr>Aptos</vt:lpstr>
      <vt:lpstr>Arial</vt:lpstr>
      <vt:lpstr>Wingdings 3</vt:lpstr>
      <vt:lpstr>多面向</vt:lpstr>
      <vt:lpstr>COMP2003HK Computing Group Project</vt:lpstr>
      <vt:lpstr> Project Planning Process </vt:lpstr>
      <vt:lpstr>Welcome &amp; User Login Page</vt:lpstr>
      <vt:lpstr>Design Decisions</vt:lpstr>
      <vt:lpstr>Gamification </vt:lpstr>
      <vt:lpstr>Prioritized &amp; Functionalities</vt:lpstr>
      <vt:lpstr>Technology Stack</vt:lpstr>
      <vt:lpstr>Why This Combination Works</vt:lpstr>
      <vt:lpstr>Dashboard</vt:lpstr>
      <vt:lpstr>Notification</vt:lpstr>
      <vt:lpstr>Session logging</vt:lpstr>
      <vt:lpstr>Session logging</vt:lpstr>
      <vt:lpstr>Mood logging</vt:lpstr>
      <vt:lpstr>Setting  &amp; Account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Jonathan A-Young</cp:lastModifiedBy>
  <cp:revision>30</cp:revision>
  <dcterms:created xsi:type="dcterms:W3CDTF">2025-12-30T15:35:04Z</dcterms:created>
  <dcterms:modified xsi:type="dcterms:W3CDTF">2026-01-06T08:16:57Z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