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81" r:id="rId6"/>
    <p:sldId id="261" r:id="rId7"/>
    <p:sldId id="282" r:id="rId8"/>
    <p:sldId id="262" r:id="rId9"/>
    <p:sldId id="278" r:id="rId10"/>
    <p:sldId id="279" r:id="rId11"/>
    <p:sldId id="280" r:id="rId12"/>
    <p:sldId id="275" r:id="rId13"/>
    <p:sldId id="283" r:id="rId14"/>
    <p:sldId id="274" r:id="rId15"/>
    <p:sldId id="276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E72E21-DEB7-4B08-BB01-084B525D19AD}" v="2" dt="2026-01-05T15:45:42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-8468" y="-8468"/>
            <a:ext cx="863825" cy="5698067"/>
          </a:xfrm>
          <a:custGeom>
            <a:avLst/>
            <a:gdLst>
              <a:gd name="connsiteX0" fmla="*/ 0 w 863600"/>
              <a:gd name="connsiteY0" fmla="*/ 8467 h 5698067"/>
              <a:gd name="connsiteX1" fmla="*/ 863600 w 863600"/>
              <a:gd name="connsiteY1" fmla="*/ 0 h 5698067"/>
              <a:gd name="connsiteX2" fmla="*/ 863600 w 863600"/>
              <a:gd name="connsiteY2" fmla="*/ 16934 h 5698067"/>
              <a:gd name="connsiteX3" fmla="*/ 0 w 863600"/>
              <a:gd name="connsiteY3" fmla="*/ 5698067 h 5698067"/>
              <a:gd name="connsiteX4" fmla="*/ 0 w 863600"/>
              <a:gd name="connsiteY4" fmla="*/ 8467 h 569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460" y="2404534"/>
            <a:ext cx="7768959" cy="1646302"/>
          </a:xfrm>
        </p:spPr>
        <p:txBody>
          <a:bodyPr anchor="b">
            <a:noAutofit/>
          </a:bodyPr>
          <a:lstStyle>
            <a:lvl1pPr algn="r" latinLnBrk="0">
              <a:defRPr lang="zh-TW" sz="50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7460" y="4050834"/>
            <a:ext cx="7768959" cy="1096899"/>
          </a:xfrm>
        </p:spPr>
        <p:txBody>
          <a:bodyPr anchor="t"/>
          <a:lstStyle>
            <a:lvl1pPr marL="0" indent="0" algn="r" latinLnBrk="0">
              <a:buNone/>
              <a:defRPr lang="zh-TW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75772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latinLnBrk="0">
              <a:defRPr lang="zh-TW" sz="36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5628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2700868"/>
            <a:ext cx="8598907" cy="1826581"/>
          </a:xfrm>
        </p:spPr>
        <p:txBody>
          <a:bodyPr anchor="b"/>
          <a:lstStyle>
            <a:lvl1pPr algn="l" latinLnBrk="0">
              <a:defRPr lang="zh-TW" sz="40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860400"/>
          </a:xfrm>
        </p:spPr>
        <p:txBody>
          <a:bodyPr anchor="t"/>
          <a:lstStyle>
            <a:lvl1pPr marL="0" indent="0" algn="l" latinLnBrk="0">
              <a:buNone/>
              <a:defRPr lang="zh-TW"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7794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68761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TW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5922" y="2160983"/>
            <a:ext cx="41867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75922" y="2737246"/>
            <a:ext cx="418671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89709" y="2160983"/>
            <a:ext cx="418670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89710" y="2737246"/>
            <a:ext cx="418670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5033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9516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89786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0" y="1498604"/>
            <a:ext cx="3855532" cy="1278466"/>
          </a:xfrm>
        </p:spPr>
        <p:txBody>
          <a:bodyPr anchor="b">
            <a:normAutofit/>
          </a:bodyPr>
          <a:lstStyle>
            <a:lvl1pPr latinLnBrk="0">
              <a:defRPr lang="zh-TW" sz="2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1701" y="514925"/>
            <a:ext cx="451471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0" y="2777069"/>
            <a:ext cx="3855532" cy="2584449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400"/>
            </a:lvl1pPr>
            <a:lvl2pPr marL="457063" indent="0" latinLnBrk="0">
              <a:buNone/>
              <a:defRPr lang="zh-TW" sz="1400"/>
            </a:lvl2pPr>
            <a:lvl3pPr marL="914126" indent="0" latinLnBrk="0">
              <a:buNone/>
              <a:defRPr lang="zh-TW" sz="1200"/>
            </a:lvl3pPr>
            <a:lvl4pPr marL="1371189" indent="0" latinLnBrk="0">
              <a:buNone/>
              <a:defRPr lang="zh-TW" sz="1000"/>
            </a:lvl4pPr>
            <a:lvl5pPr marL="1828251" indent="0" latinLnBrk="0">
              <a:buNone/>
              <a:defRPr lang="zh-TW" sz="1000"/>
            </a:lvl5pPr>
            <a:lvl6pPr marL="2285314" indent="0" latinLnBrk="0">
              <a:buNone/>
              <a:defRPr lang="zh-TW" sz="1000"/>
            </a:lvl6pPr>
            <a:lvl7pPr marL="2742377" indent="0" latinLnBrk="0">
              <a:buNone/>
              <a:defRPr lang="zh-TW" sz="1000"/>
            </a:lvl7pPr>
            <a:lvl8pPr marL="3199440" indent="0" latinLnBrk="0">
              <a:buNone/>
              <a:defRPr lang="zh-TW" sz="1000"/>
            </a:lvl8pPr>
            <a:lvl9pPr marL="3656503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72162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4800600"/>
            <a:ext cx="8598906" cy="566738"/>
          </a:xfrm>
        </p:spPr>
        <p:txBody>
          <a:bodyPr anchor="b">
            <a:normAutofit/>
          </a:bodyPr>
          <a:lstStyle>
            <a:lvl1pPr algn="l" latinLnBrk="0">
              <a:defRPr lang="zh-TW" sz="2400" b="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677511" y="609600"/>
            <a:ext cx="8598907" cy="3845718"/>
          </a:xfrm>
        </p:spPr>
        <p:txBody>
          <a:bodyPr anchor="ctr">
            <a:normAutofit/>
          </a:bodyPr>
          <a:lstStyle>
            <a:lvl1pPr marL="0" indent="0" algn="ctr" latinLnBrk="0">
              <a:buNone/>
              <a:defRPr lang="zh-TW" sz="16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1" y="5367338"/>
            <a:ext cx="8598906" cy="674024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2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9078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609600"/>
            <a:ext cx="8598907" cy="3403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6584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1366495" y="3632200"/>
            <a:ext cx="7226406" cy="381000"/>
          </a:xfrm>
        </p:spPr>
        <p:txBody>
          <a:bodyPr anchor="ctr">
            <a:noAutofit/>
          </a:bodyPr>
          <a:lstStyle>
            <a:lvl1pPr marL="0" indent="0" latinLnBrk="0">
              <a:buFontTx/>
              <a:buNone/>
              <a:defRPr lang="zh-TW"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5998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1931988"/>
            <a:ext cx="8598907" cy="2595460"/>
          </a:xfrm>
        </p:spPr>
        <p:txBody>
          <a:bodyPr anchor="b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96703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97398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978" y="609600"/>
            <a:ext cx="8590440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accent1"/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431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150809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7969749" y="609600"/>
            <a:ext cx="130508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677511" y="609600"/>
            <a:ext cx="7061989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2916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-8469" y="4013201"/>
            <a:ext cx="457319" cy="2853267"/>
          </a:xfrm>
          <a:custGeom>
            <a:avLst/>
            <a:gdLst>
              <a:gd name="connsiteX0" fmla="*/ 0 w 457200"/>
              <a:gd name="connsiteY0" fmla="*/ 0 h 2853267"/>
              <a:gd name="connsiteX1" fmla="*/ 457200 w 457200"/>
              <a:gd name="connsiteY1" fmla="*/ 2853267 h 2853267"/>
              <a:gd name="connsiteX2" fmla="*/ 0 w 457200"/>
              <a:gd name="connsiteY2" fmla="*/ 2844800 h 2853267"/>
              <a:gd name="connsiteX3" fmla="*/ 0 w 457200"/>
              <a:gd name="connsiteY3" fmla="*/ 0 h 2853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853267">
                <a:moveTo>
                  <a:pt x="0" y="0"/>
                </a:moveTo>
                <a:lnTo>
                  <a:pt x="457200" y="2853267"/>
                </a:lnTo>
                <a:lnTo>
                  <a:pt x="0" y="2844800"/>
                </a:lnTo>
                <a:cubicBezTo>
                  <a:pt x="2822" y="1905000"/>
                  <a:pt x="5645" y="965200"/>
                  <a:pt x="0" y="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sz="180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1" y="2160590"/>
            <a:ext cx="859890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07010" y="6041363"/>
            <a:ext cx="912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F0EC-4F60-4544-9956-271209A740FE}" type="datetimeFigureOut">
              <a:t>1/6/26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77511" y="6041363"/>
            <a:ext cx="6299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592901" y="6041363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accent1"/>
                </a:solidFill>
              </a:defRPr>
            </a:lvl1pPr>
          </a:lstStyle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541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lang="zh-TW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0" hangingPunct="1">
        <a:defRPr lang="zh-TW">
          <a:solidFill>
            <a:schemeClr val="tx2"/>
          </a:solidFill>
        </a:defRPr>
      </a:lvl2pPr>
      <a:lvl3pPr eaLnBrk="1" latinLnBrk="0" hangingPunct="1">
        <a:defRPr lang="zh-TW">
          <a:solidFill>
            <a:schemeClr val="tx2"/>
          </a:solidFill>
        </a:defRPr>
      </a:lvl3pPr>
      <a:lvl4pPr eaLnBrk="1" latinLnBrk="0" hangingPunct="1">
        <a:defRPr lang="zh-TW">
          <a:solidFill>
            <a:schemeClr val="tx2"/>
          </a:solidFill>
        </a:defRPr>
      </a:lvl4pPr>
      <a:lvl5pPr eaLnBrk="1" latinLnBrk="0" hangingPunct="1">
        <a:defRPr lang="zh-TW">
          <a:solidFill>
            <a:schemeClr val="tx2"/>
          </a:solidFill>
        </a:defRPr>
      </a:lvl5pPr>
      <a:lvl6pPr eaLnBrk="1" latinLnBrk="0" hangingPunct="1">
        <a:defRPr lang="zh-TW">
          <a:solidFill>
            <a:schemeClr val="tx2"/>
          </a:solidFill>
        </a:defRPr>
      </a:lvl6pPr>
      <a:lvl7pPr eaLnBrk="1" latinLnBrk="0" hangingPunct="1">
        <a:defRPr lang="zh-TW">
          <a:solidFill>
            <a:schemeClr val="tx2"/>
          </a:solidFill>
        </a:defRPr>
      </a:lvl7pPr>
      <a:lvl8pPr eaLnBrk="1" latinLnBrk="0" hangingPunct="1">
        <a:defRPr lang="zh-TW">
          <a:solidFill>
            <a:schemeClr val="tx2"/>
          </a:solidFill>
        </a:defRPr>
      </a:lvl8pPr>
      <a:lvl9pPr eaLnBrk="1" latinLnBrk="0" hangingPunct="1">
        <a:defRPr lang="zh-TW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6" name="矩形 8"/>
          <p:cNvSpPr>
            <a:spLocks noGrp="1" noChangeArrowheads="1"/>
          </p:cNvSpPr>
          <p:nvPr>
            <p:ph type="ctrTitle"/>
          </p:nvPr>
        </p:nvSpPr>
        <p:spPr>
          <a:xfrm>
            <a:off x="1904467" y="2016343"/>
            <a:ext cx="7056654" cy="1646302"/>
          </a:xfrm>
        </p:spPr>
        <p:txBody>
          <a:bodyPr/>
          <a:lstStyle/>
          <a:p>
            <a:pPr algn="l"/>
            <a:r>
              <a:rPr lang="pt-BR" altLang="zh-HK" sz="4200" b="1" dirty="0">
                <a:solidFill>
                  <a:srgbClr val="00B050"/>
                </a:solidFill>
              </a:rPr>
              <a:t>COMP2003HK</a:t>
            </a:r>
            <a:br>
              <a:rPr lang="pt-BR" altLang="zh-HK" sz="4200" b="1" dirty="0">
                <a:solidFill>
                  <a:srgbClr val="00B050"/>
                </a:solidFill>
              </a:rPr>
            </a:br>
            <a:r>
              <a:rPr lang="pt-BR" altLang="zh-HK" sz="4200" b="1" dirty="0">
                <a:solidFill>
                  <a:srgbClr val="00B050"/>
                </a:solidFill>
              </a:rPr>
              <a:t>Computing Group Project</a:t>
            </a:r>
            <a:endParaRPr lang="zh-TW" sz="4200" dirty="0">
              <a:solidFill>
                <a:srgbClr val="00B050"/>
              </a:solidFill>
            </a:endParaRPr>
          </a:p>
        </p:txBody>
      </p:sp>
      <p:sp>
        <p:nvSpPr>
          <p:cNvPr id="89097" name="矩形 9"/>
          <p:cNvSpPr>
            <a:spLocks noGrp="1" noChangeArrowheads="1"/>
          </p:cNvSpPr>
          <p:nvPr>
            <p:ph type="subTitle" idx="1"/>
          </p:nvPr>
        </p:nvSpPr>
        <p:spPr>
          <a:xfrm>
            <a:off x="1904467" y="3662645"/>
            <a:ext cx="1806043" cy="655355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solidFill>
                  <a:schemeClr val="accent1"/>
                </a:solidFill>
                <a:latin typeface="+mn-ea"/>
              </a:rPr>
              <a:t>Group 5</a:t>
            </a:r>
            <a:endParaRPr lang="zh-TW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5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7C7A-27E1-1BFC-F620-2D816B915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矩形 2">
            <a:extLst>
              <a:ext uri="{FF2B5EF4-FFF2-40B4-BE49-F238E27FC236}">
                <a16:creationId xmlns:a16="http://schemas.microsoft.com/office/drawing/2014/main" id="{7DCD91F7-094D-C1EF-F92D-4FD7450C7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pt-BR" altLang="zh-TW" b="1"/>
              <a:t> Project Planning </a:t>
            </a:r>
            <a:r>
              <a:rPr lang="pt-BR" altLang="zh-TW" b="1" err="1"/>
              <a:t>Process</a:t>
            </a:r>
            <a:r>
              <a:rPr lang="pt-BR" altLang="zh-TW" b="1"/>
              <a:t> </a:t>
            </a:r>
            <a:endParaRPr lang="zh-TW" b="1">
              <a:highlight>
                <a:srgbClr val="FFFF00"/>
              </a:highlight>
            </a:endParaRPr>
          </a:p>
        </p:txBody>
      </p:sp>
      <p:sp>
        <p:nvSpPr>
          <p:cNvPr id="86019" name="矩形 3">
            <a:extLst>
              <a:ext uri="{FF2B5EF4-FFF2-40B4-BE49-F238E27FC236}">
                <a16:creationId xmlns:a16="http://schemas.microsoft.com/office/drawing/2014/main" id="{38F3B01F-0296-1649-2543-78FBCEA29FC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HK" dirty="0"/>
          </a:p>
          <a:p>
            <a:endParaRPr lang="zh-TW" dirty="0"/>
          </a:p>
        </p:txBody>
      </p:sp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7BC2DBA1-5829-65B5-5074-9147F803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270000"/>
            <a:ext cx="6410204" cy="531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2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70626"/>
          </a:xfrm>
        </p:spPr>
        <p:txBody>
          <a:bodyPr anchor="t">
            <a:norm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Welcome &amp; User Login Page</a:t>
            </a:r>
            <a:endParaRPr lang="zh-TW" b="1" dirty="0">
              <a:solidFill>
                <a:schemeClr val="accent2"/>
              </a:solidFill>
            </a:endParaRPr>
          </a:p>
        </p:txBody>
      </p:sp>
      <p:pic>
        <p:nvPicPr>
          <p:cNvPr id="6" name="內容版面配置區 5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1B82C2B8-8458-60C8-DA1B-0C8209DD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001" y="1602596"/>
            <a:ext cx="8221926" cy="4110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936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387F-40C0-5169-4AB4-A151AAE0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71" y="548640"/>
            <a:ext cx="8598907" cy="76200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Aptos" panose="020B0004020202020204" pitchFamily="34" charset="0"/>
              </a:rPr>
              <a:t>Design Decisions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A1A01-15DF-DFA9-AAEB-144F16EC6635}"/>
              </a:ext>
            </a:extLst>
          </p:cNvPr>
          <p:cNvSpPr txBox="1"/>
          <p:nvPr/>
        </p:nvSpPr>
        <p:spPr>
          <a:xfrm>
            <a:off x="762000" y="1843950"/>
            <a:ext cx="100482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Chose Gamification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Prioritized Our Functionalities.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Chose Our Development Platform.</a:t>
            </a:r>
          </a:p>
        </p:txBody>
      </p:sp>
    </p:spTree>
    <p:extLst>
      <p:ext uri="{BB962C8B-B14F-4D97-AF65-F5344CB8AC3E}">
        <p14:creationId xmlns:p14="http://schemas.microsoft.com/office/powerpoint/2010/main" val="233224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8" name="Title 1">
            <a:extLst>
              <a:ext uri="{FF2B5EF4-FFF2-40B4-BE49-F238E27FC236}">
                <a16:creationId xmlns:a16="http://schemas.microsoft.com/office/drawing/2014/main" id="{B065074E-4AB0-1F69-264D-041C9B52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585" y="111760"/>
            <a:ext cx="6282089" cy="68072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Gamification 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E747967E-0A56-06CA-26C0-CE5471DEB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55" y="1005840"/>
            <a:ext cx="2647860" cy="5740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B00015-34D4-84EE-7A56-DB2A89524645}"/>
              </a:ext>
            </a:extLst>
          </p:cNvPr>
          <p:cNvSpPr txBox="1"/>
          <p:nvPr/>
        </p:nvSpPr>
        <p:spPr>
          <a:xfrm>
            <a:off x="3865979" y="1727200"/>
            <a:ext cx="61112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Users earn XP by completing focus sessions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Spend XP to unlock building assets (trees, houses, roads)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Green spaces - drag &amp; drop areas for personal utopia</a:t>
            </a:r>
          </a:p>
        </p:txBody>
      </p:sp>
    </p:spTree>
    <p:extLst>
      <p:ext uri="{BB962C8B-B14F-4D97-AF65-F5344CB8AC3E}">
        <p14:creationId xmlns:p14="http://schemas.microsoft.com/office/powerpoint/2010/main" val="335173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E2AB-7940-0425-5960-8A087E49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51" y="294640"/>
            <a:ext cx="8598907" cy="76200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</a:rPr>
              <a:t>Prioritized &amp; Functionalities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7DCC8-C551-C909-F8AC-16C161A2444C}"/>
              </a:ext>
            </a:extLst>
          </p:cNvPr>
          <p:cNvSpPr txBox="1"/>
          <p:nvPr/>
        </p:nvSpPr>
        <p:spPr>
          <a:xfrm>
            <a:off x="1226151" y="1415534"/>
            <a:ext cx="84455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dirty="0" err="1">
                <a:solidFill>
                  <a:srgbClr val="00B0F0"/>
                </a:solidFill>
                <a:effectLst/>
                <a:latin typeface="Aptos" panose="020B0004020202020204" pitchFamily="34" charset="0"/>
              </a:rPr>
              <a:t>MoSCoW</a:t>
            </a:r>
            <a:r>
              <a:rPr lang="en-GB" sz="2400" b="1" i="0" dirty="0">
                <a:solidFill>
                  <a:srgbClr val="00B0F0"/>
                </a:solidFill>
                <a:effectLst/>
                <a:latin typeface="Aptos" panose="020B0004020202020204" pitchFamily="34" charset="0"/>
              </a:rPr>
              <a:t>  method:</a:t>
            </a:r>
          </a:p>
          <a:p>
            <a:endParaRPr lang="en-GB" sz="2400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Must-have feature: Focus timers, city building, and activity logging form our core value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Should-have feature: Dashboards and notifications boost daily usage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Could-have features: like custom city themes remain optional for future iterations.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Won't-have features: such as leaderboards or social sharing were excluded to maintain privacy focus and scope control.</a:t>
            </a:r>
            <a:endParaRPr lang="en-GB" sz="24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78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EE4E-F574-E68D-3D53-940DF6B4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8232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</a:rPr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CCC86-3684-8CF1-38F6-DA262C1B8EBD}"/>
              </a:ext>
            </a:extLst>
          </p:cNvPr>
          <p:cNvSpPr txBox="1"/>
          <p:nvPr/>
        </p:nvSpPr>
        <p:spPr>
          <a:xfrm>
            <a:off x="1057646" y="1843950"/>
            <a:ext cx="90007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Flutter: main development framework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Dart: programming language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SQLite: local database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4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D15E-754B-96A3-2BB8-F187D7C0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802640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</a:rPr>
              <a:t>Why This Combination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1B98-C16B-9A72-7CCF-D8A9B7D39318}"/>
              </a:ext>
            </a:extLst>
          </p:cNvPr>
          <p:cNvSpPr txBox="1"/>
          <p:nvPr/>
        </p:nvSpPr>
        <p:spPr>
          <a:xfrm>
            <a:off x="825334" y="1930400"/>
            <a:ext cx="88571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Single codebase for Android plus 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Smooth animations for city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Secure offline data storage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5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CA8D-3DD9-4122-7CCB-BE5F4123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F986E80-8E4F-CEAA-89D1-C186944B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en-US" b="1"/>
              <a:t>Dashboard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3FF72BE7-D9D3-701D-62FF-085EC96ED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645" y="2160589"/>
            <a:ext cx="1794856" cy="3880772"/>
          </a:xfrm>
          <a:prstGeom prst="rect">
            <a:avLst/>
          </a:prstGeom>
          <a:noFill/>
        </p:spPr>
      </p:pic>
      <p:sp>
        <p:nvSpPr>
          <p:cNvPr id="96280" name="Content Placeholder 3">
            <a:extLst>
              <a:ext uri="{FF2B5EF4-FFF2-40B4-BE49-F238E27FC236}">
                <a16:creationId xmlns:a16="http://schemas.microsoft.com/office/drawing/2014/main" id="{20C39163-C217-8704-72AC-EE8D1E2DC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r>
              <a:rPr lang="en-US" b="1" dirty="0"/>
              <a:t>Dashboard Overview</a:t>
            </a:r>
            <a:br>
              <a:rPr lang="en-US" dirty="0"/>
            </a:br>
            <a:r>
              <a:rPr lang="en-US" dirty="0"/>
              <a:t>This dashboard provides users with a clear overview of their focus </a:t>
            </a:r>
            <a:r>
              <a:rPr lang="en-US" dirty="0" err="1"/>
              <a:t>behaviour</a:t>
            </a:r>
            <a:r>
              <a:rPr lang="en-US" dirty="0"/>
              <a:t> and wellbeing.</a:t>
            </a:r>
            <a:br>
              <a:rPr lang="en-US" dirty="0"/>
            </a:br>
            <a:r>
              <a:rPr lang="en-US" dirty="0"/>
              <a:t>It </a:t>
            </a:r>
            <a:r>
              <a:rPr lang="en-US" dirty="0" err="1"/>
              <a:t>summarises</a:t>
            </a:r>
            <a:r>
              <a:rPr lang="en-US" dirty="0"/>
              <a:t> daily focus time, weekly trends, logged activities, and mood records in a single screen.</a:t>
            </a:r>
            <a:br>
              <a:rPr lang="en-US" dirty="0"/>
            </a:br>
            <a:r>
              <a:rPr lang="en-US" dirty="0"/>
              <a:t>Visual elements such as charts and icons are used to help users quickly understand their progress and encourage continued engagement with the app.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94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0F61-BA37-C21D-B066-7FC85CFD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EADB0E5-1D6B-CF75-C761-F5D4B7B1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en-US" b="1" dirty="0"/>
              <a:t>Notification</a:t>
            </a:r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2E5935A0-12ED-8BC0-C584-72B53427BE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036" y="2160589"/>
            <a:ext cx="1790074" cy="3880772"/>
          </a:xfrm>
          <a:noFill/>
        </p:spPr>
      </p:pic>
      <p:sp>
        <p:nvSpPr>
          <p:cNvPr id="96280" name="Content Placeholder 3">
            <a:extLst>
              <a:ext uri="{FF2B5EF4-FFF2-40B4-BE49-F238E27FC236}">
                <a16:creationId xmlns:a16="http://schemas.microsoft.com/office/drawing/2014/main" id="{DDE8D32E-7431-31D5-B3E6-53F1F73C4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r>
              <a:rPr lang="en-US" b="1" dirty="0"/>
              <a:t>Notification Overview</a:t>
            </a:r>
            <a:br>
              <a:rPr lang="en-US" dirty="0"/>
            </a:br>
            <a:r>
              <a:rPr lang="en-US" dirty="0"/>
              <a:t>The notification feature supports users in building healthier focus habits.</a:t>
            </a:r>
            <a:br>
              <a:rPr lang="en-US" dirty="0"/>
            </a:br>
            <a:r>
              <a:rPr lang="en-US" dirty="0"/>
              <a:t>It provides timely reminders for focus sessions, breaks, and daily usage limits.</a:t>
            </a:r>
            <a:br>
              <a:rPr lang="en-US" dirty="0"/>
            </a:br>
            <a:r>
              <a:rPr lang="en-US" dirty="0"/>
              <a:t>Notifications are designed to gently guide users without being intrusive, helping them stay aware of their </a:t>
            </a:r>
            <a:r>
              <a:rPr lang="en-US" dirty="0" err="1"/>
              <a:t>behaviour</a:t>
            </a:r>
            <a:r>
              <a:rPr lang="en-US" dirty="0"/>
              <a:t> throughout the day.</a:t>
            </a:r>
          </a:p>
        </p:txBody>
      </p:sp>
    </p:spTree>
    <p:extLst>
      <p:ext uri="{BB962C8B-B14F-4D97-AF65-F5344CB8AC3E}">
        <p14:creationId xmlns:p14="http://schemas.microsoft.com/office/powerpoint/2010/main" val="324671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793D-BC00-DF09-3AC6-BF6A98A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EAE5265F-A5BF-BE06-9606-AF73E3E8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pic>
        <p:nvPicPr>
          <p:cNvPr id="4" name="圖片 3" descr="一張含有 文字, 螢幕擷取畫面, 作業系統 的圖片&#10;&#10;AI 產生的內容可能不正確。">
            <a:extLst>
              <a:ext uri="{FF2B5EF4-FFF2-40B4-BE49-F238E27FC236}">
                <a16:creationId xmlns:a16="http://schemas.microsoft.com/office/drawing/2014/main" id="{3BF7E686-50AE-1BDF-CB5D-9601F0E1A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0" y="1490785"/>
            <a:ext cx="7036544" cy="4608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6411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F395-2821-D6DE-59CA-D92EA6B2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51" y="284480"/>
            <a:ext cx="8598907" cy="7112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Aptos" panose="020B0004020202020204" pitchFamily="34" charset="0"/>
              </a:rPr>
              <a:t>Setting  &amp; Account</a:t>
            </a:r>
            <a:endParaRPr lang="en-GB" b="1" dirty="0">
              <a:solidFill>
                <a:srgbClr val="00B0F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6256F07-99B5-E66E-D1CA-68AC5F0F0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51" y="1249703"/>
            <a:ext cx="2502569" cy="5425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236D68-8D1C-0E7B-E830-AC3B1B1D7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07" y="1249702"/>
            <a:ext cx="2414225" cy="5323817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4CDA00E9-2DC0-F076-3340-5F4B6EF599DE}"/>
              </a:ext>
            </a:extLst>
          </p:cNvPr>
          <p:cNvCxnSpPr/>
          <p:nvPr/>
        </p:nvCxnSpPr>
        <p:spPr>
          <a:xfrm>
            <a:off x="3749040" y="2021840"/>
            <a:ext cx="2785767" cy="1270000"/>
          </a:xfrm>
          <a:prstGeom prst="curvedConnector3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591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2475781"/>
            <a:ext cx="8598907" cy="13011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8000" dirty="0">
                <a:solidFill>
                  <a:schemeClr val="accent2"/>
                </a:solidFill>
              </a:rPr>
              <a:t>Q&amp;A</a:t>
            </a:r>
            <a:endParaRPr lang="zh-TW" sz="8000" dirty="0">
              <a:solidFill>
                <a:schemeClr val="accent2"/>
              </a:solidFill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737897" y="3854587"/>
            <a:ext cx="8598907" cy="860400"/>
          </a:xfrm>
        </p:spPr>
        <p:txBody>
          <a:bodyPr/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</a:rPr>
              <a:t>Thank You</a:t>
            </a:r>
            <a:endParaRPr lang="zh-TW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74213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Strategy_FacetGreenTheme_16x9_TP103418064" id="{F603BFB1-11DF-4227-8F78-DFB6E6A3794F}" vid="{ACF71F8F-BA3C-4B03-BE54-5A5BE7D31FB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c66daf58-3c46-4c48-8560-c485e881f7f9" xsi:nil="true"/>
    <AssetExpire xmlns="c66daf58-3c46-4c48-8560-c485e881f7f9">2029-01-01T08:00:00+00:00</AssetExpire>
    <CampaignTagsTaxHTField0 xmlns="c66daf58-3c46-4c48-8560-c485e881f7f9">
      <Terms xmlns="http://schemas.microsoft.com/office/infopath/2007/PartnerControls"/>
    </CampaignTagsTaxHTField0>
    <IntlLangReviewDate xmlns="c66daf58-3c46-4c48-8560-c485e881f7f9" xsi:nil="true"/>
    <TPFriendlyName xmlns="c66daf58-3c46-4c48-8560-c485e881f7f9" xsi:nil="true"/>
    <IntlLangReview xmlns="c66daf58-3c46-4c48-8560-c485e881f7f9">false</IntlLangReview>
    <LocLastLocAttemptVersionLookup xmlns="c66daf58-3c46-4c48-8560-c485e881f7f9">854457</LocLastLocAttemptVersionLookup>
    <PolicheckWords xmlns="c66daf58-3c46-4c48-8560-c485e881f7f9" xsi:nil="true"/>
    <SubmitterId xmlns="c66daf58-3c46-4c48-8560-c485e881f7f9" xsi:nil="true"/>
    <AcquiredFrom xmlns="c66daf58-3c46-4c48-8560-c485e881f7f9">Internal MS</AcquiredFrom>
    <EditorialStatus xmlns="c66daf58-3c46-4c48-8560-c485e881f7f9">Complete</EditorialStatus>
    <Markets xmlns="c66daf58-3c46-4c48-8560-c485e881f7f9"/>
    <OriginAsset xmlns="c66daf58-3c46-4c48-8560-c485e881f7f9" xsi:nil="true"/>
    <AssetStart xmlns="c66daf58-3c46-4c48-8560-c485e881f7f9">2012-08-29T22:50:00+00:00</AssetStart>
    <FriendlyTitle xmlns="c66daf58-3c46-4c48-8560-c485e881f7f9" xsi:nil="true"/>
    <MarketSpecific xmlns="c66daf58-3c46-4c48-8560-c485e881f7f9">false</MarketSpecific>
    <TPNamespace xmlns="c66daf58-3c46-4c48-8560-c485e881f7f9" xsi:nil="true"/>
    <PublishStatusLookup xmlns="c66daf58-3c46-4c48-8560-c485e881f7f9">
      <Value>491381</Value>
    </PublishStatusLookup>
    <APAuthor xmlns="c66daf58-3c46-4c48-8560-c485e881f7f9">
      <UserInfo>
        <DisplayName>REDMOND\kristaa</DisplayName>
        <AccountId>136</AccountId>
        <AccountType/>
      </UserInfo>
    </APAuthor>
    <TPCommandLine xmlns="c66daf58-3c46-4c48-8560-c485e881f7f9" xsi:nil="true"/>
    <IntlLangReviewer xmlns="c66daf58-3c46-4c48-8560-c485e881f7f9" xsi:nil="true"/>
    <OpenTemplate xmlns="c66daf58-3c46-4c48-8560-c485e881f7f9">true</OpenTemplate>
    <CSXSubmissionDate xmlns="c66daf58-3c46-4c48-8560-c485e881f7f9" xsi:nil="true"/>
    <TaxCatchAll xmlns="c66daf58-3c46-4c48-8560-c485e881f7f9"/>
    <Manager xmlns="c66daf58-3c46-4c48-8560-c485e881f7f9" xsi:nil="true"/>
    <NumericId xmlns="c66daf58-3c46-4c48-8560-c485e881f7f9" xsi:nil="true"/>
    <ParentAssetId xmlns="c66daf58-3c46-4c48-8560-c485e881f7f9" xsi:nil="true"/>
    <OriginalSourceMarket xmlns="c66daf58-3c46-4c48-8560-c485e881f7f9">english</OriginalSourceMarket>
    <ApprovalStatus xmlns="c66daf58-3c46-4c48-8560-c485e881f7f9">InProgress</ApprovalStatus>
    <TPComponent xmlns="c66daf58-3c46-4c48-8560-c485e881f7f9" xsi:nil="true"/>
    <EditorialTags xmlns="c66daf58-3c46-4c48-8560-c485e881f7f9" xsi:nil="true"/>
    <TPExecutable xmlns="c66daf58-3c46-4c48-8560-c485e881f7f9" xsi:nil="true"/>
    <TPLaunchHelpLink xmlns="c66daf58-3c46-4c48-8560-c485e881f7f9" xsi:nil="true"/>
    <LocComments xmlns="c66daf58-3c46-4c48-8560-c485e881f7f9" xsi:nil="true"/>
    <LocRecommendedHandoff xmlns="c66daf58-3c46-4c48-8560-c485e881f7f9" xsi:nil="true"/>
    <SourceTitle xmlns="c66daf58-3c46-4c48-8560-c485e881f7f9" xsi:nil="true"/>
    <CSXUpdate xmlns="c66daf58-3c46-4c48-8560-c485e881f7f9">false</CSXUpdate>
    <IntlLocPriority xmlns="c66daf58-3c46-4c48-8560-c485e881f7f9" xsi:nil="true"/>
    <UAProjectedTotalWords xmlns="c66daf58-3c46-4c48-8560-c485e881f7f9" xsi:nil="true"/>
    <AssetType xmlns="c66daf58-3c46-4c48-8560-c485e881f7f9">TP</AssetType>
    <MachineTranslated xmlns="c66daf58-3c46-4c48-8560-c485e881f7f9">false</MachineTranslated>
    <OutputCachingOn xmlns="c66daf58-3c46-4c48-8560-c485e881f7f9">false</OutputCachingOn>
    <TemplateStatus xmlns="c66daf58-3c46-4c48-8560-c485e881f7f9">Complete</TemplateStatus>
    <IsSearchable xmlns="c66daf58-3c46-4c48-8560-c485e881f7f9">true</IsSearchable>
    <ContentItem xmlns="c66daf58-3c46-4c48-8560-c485e881f7f9" xsi:nil="true"/>
    <HandoffToMSDN xmlns="c66daf58-3c46-4c48-8560-c485e881f7f9" xsi:nil="true"/>
    <ShowIn xmlns="c66daf58-3c46-4c48-8560-c485e881f7f9">Show everywhere</ShowIn>
    <ThumbnailAssetId xmlns="c66daf58-3c46-4c48-8560-c485e881f7f9" xsi:nil="true"/>
    <UALocComments xmlns="c66daf58-3c46-4c48-8560-c485e881f7f9" xsi:nil="true"/>
    <UALocRecommendation xmlns="c66daf58-3c46-4c48-8560-c485e881f7f9">Localize</UALocRecommendation>
    <LastModifiedDateTime xmlns="c66daf58-3c46-4c48-8560-c485e881f7f9" xsi:nil="true"/>
    <LegacyData xmlns="c66daf58-3c46-4c48-8560-c485e881f7f9" xsi:nil="true"/>
    <LocManualTestRequired xmlns="c66daf58-3c46-4c48-8560-c485e881f7f9">false</LocManualTestRequired>
    <LocMarketGroupTiers2 xmlns="c66daf58-3c46-4c48-8560-c485e881f7f9" xsi:nil="true"/>
    <ClipArtFilename xmlns="c66daf58-3c46-4c48-8560-c485e881f7f9" xsi:nil="true"/>
    <TPApplication xmlns="c66daf58-3c46-4c48-8560-c485e881f7f9" xsi:nil="true"/>
    <CSXHash xmlns="c66daf58-3c46-4c48-8560-c485e881f7f9" xsi:nil="true"/>
    <DirectSourceMarket xmlns="c66daf58-3c46-4c48-8560-c485e881f7f9">english</DirectSourceMarket>
    <PrimaryImageGen xmlns="c66daf58-3c46-4c48-8560-c485e881f7f9">true</PrimaryImageGen>
    <PlannedPubDate xmlns="c66daf58-3c46-4c48-8560-c485e881f7f9" xsi:nil="true"/>
    <CSXSubmissionMarket xmlns="c66daf58-3c46-4c48-8560-c485e881f7f9" xsi:nil="true"/>
    <Downloads xmlns="c66daf58-3c46-4c48-8560-c485e881f7f9">0</Downloads>
    <ArtSampleDocs xmlns="c66daf58-3c46-4c48-8560-c485e881f7f9" xsi:nil="true"/>
    <TrustLevel xmlns="c66daf58-3c46-4c48-8560-c485e881f7f9">1 Microsoft Managed Content</TrustLevel>
    <BlockPublish xmlns="c66daf58-3c46-4c48-8560-c485e881f7f9">false</BlockPublish>
    <TPLaunchHelpLinkType xmlns="c66daf58-3c46-4c48-8560-c485e881f7f9">Template</TPLaunchHelpLinkType>
    <LocalizationTagsTaxHTField0 xmlns="c66daf58-3c46-4c48-8560-c485e881f7f9">
      <Terms xmlns="http://schemas.microsoft.com/office/infopath/2007/PartnerControls"/>
    </LocalizationTagsTaxHTField0>
    <BusinessGroup xmlns="c66daf58-3c46-4c48-8560-c485e881f7f9" xsi:nil="true"/>
    <Providers xmlns="c66daf58-3c46-4c48-8560-c485e881f7f9" xsi:nil="true"/>
    <TemplateTemplateType xmlns="c66daf58-3c46-4c48-8560-c485e881f7f9">PowerPoint Presentation Template</TemplateTemplateType>
    <TimesCloned xmlns="c66daf58-3c46-4c48-8560-c485e881f7f9" xsi:nil="true"/>
    <TPAppVersion xmlns="c66daf58-3c46-4c48-8560-c485e881f7f9" xsi:nil="true"/>
    <VoteCount xmlns="c66daf58-3c46-4c48-8560-c485e881f7f9" xsi:nil="true"/>
    <AverageRating xmlns="c66daf58-3c46-4c48-8560-c485e881f7f9" xsi:nil="true"/>
    <FeatureTagsTaxHTField0 xmlns="c66daf58-3c46-4c48-8560-c485e881f7f9">
      <Terms xmlns="http://schemas.microsoft.com/office/infopath/2007/PartnerControls"/>
    </FeatureTagsTaxHTField0>
    <Provider xmlns="c66daf58-3c46-4c48-8560-c485e881f7f9" xsi:nil="true"/>
    <UACurrentWords xmlns="c66daf58-3c46-4c48-8560-c485e881f7f9" xsi:nil="true"/>
    <AssetId xmlns="c66daf58-3c46-4c48-8560-c485e881f7f9">TP103418064</AssetId>
    <TPClientViewer xmlns="c66daf58-3c46-4c48-8560-c485e881f7f9" xsi:nil="true"/>
    <DSATActionTaken xmlns="c66daf58-3c46-4c48-8560-c485e881f7f9" xsi:nil="true"/>
    <APEditor xmlns="c66daf58-3c46-4c48-8560-c485e881f7f9">
      <UserInfo>
        <DisplayName/>
        <AccountId xsi:nil="true"/>
        <AccountType/>
      </UserInfo>
    </APEditor>
    <TPInstallLocation xmlns="c66daf58-3c46-4c48-8560-c485e881f7f9" xsi:nil="true"/>
    <OOCacheId xmlns="c66daf58-3c46-4c48-8560-c485e881f7f9" xsi:nil="true"/>
    <IsDeleted xmlns="c66daf58-3c46-4c48-8560-c485e881f7f9">false</IsDeleted>
    <PublishTargets xmlns="c66daf58-3c46-4c48-8560-c485e881f7f9">OfficeOnlineVNext</PublishTargets>
    <ApprovalLog xmlns="c66daf58-3c46-4c48-8560-c485e881f7f9" xsi:nil="true"/>
    <BugNumber xmlns="c66daf58-3c46-4c48-8560-c485e881f7f9" xsi:nil="true"/>
    <CrawlForDependencies xmlns="c66daf58-3c46-4c48-8560-c485e881f7f9">false</CrawlForDependencies>
    <InternalTagsTaxHTField0 xmlns="c66daf58-3c46-4c48-8560-c485e881f7f9">
      <Terms xmlns="http://schemas.microsoft.com/office/infopath/2007/PartnerControls"/>
    </InternalTagsTaxHTField0>
    <LastHandOff xmlns="c66daf58-3c46-4c48-8560-c485e881f7f9" xsi:nil="true"/>
    <Milestone xmlns="c66daf58-3c46-4c48-8560-c485e881f7f9" xsi:nil="true"/>
    <OriginalRelease xmlns="c66daf58-3c46-4c48-8560-c485e881f7f9">15</OriginalRelease>
    <RecommendationsModifier xmlns="c66daf58-3c46-4c48-8560-c485e881f7f9" xsi:nil="true"/>
    <ScenarioTagsTaxHTField0 xmlns="c66daf58-3c46-4c48-8560-c485e881f7f9">
      <Terms xmlns="http://schemas.microsoft.com/office/infopath/2007/PartnerControls"/>
    </ScenarioTagsTaxHTField0>
    <UANotes xmlns="c66daf58-3c46-4c48-8560-c485e881f7f9" xsi:nil="true"/>
    <Component xmlns="8e8ea6d1-e150-4704-b47c-0a92d6aed386" xsi:nil="true"/>
    <Description0 xmlns="8e8ea6d1-e150-4704-b47c-0a92d6aed38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9D4095AFEE790E42B52CF3AD35B999BF040086E71550AC00CE488731BAE03648ABFB" ma:contentTypeVersion="69" ma:contentTypeDescription="Create a new document." ma:contentTypeScope="" ma:versionID="19c8e0d4ec850202fc84bb6df7d27d5a">
  <xsd:schema xmlns:xsd="http://www.w3.org/2001/XMLSchema" xmlns:xs="http://www.w3.org/2001/XMLSchema" xmlns:p="http://schemas.microsoft.com/office/2006/metadata/properties" xmlns:ns2="c66daf58-3c46-4c48-8560-c485e881f7f9" xmlns:ns3="8e8ea6d1-e150-4704-b47c-0a92d6aed386" targetNamespace="http://schemas.microsoft.com/office/2006/metadata/properties" ma:root="true" ma:fieldsID="61474f05e94678c8e4bfc6326c72eb04" ns2:_="" ns3:_="">
    <xsd:import namespace="c66daf58-3c46-4c48-8560-c485e881f7f9"/>
    <xsd:import namespace="8e8ea6d1-e150-4704-b47c-0a92d6aed38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daf58-3c46-4c48-8560-c485e881f7f9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7395a81f-9577-418e-910a-32f7a61cddb7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5EEE958E-8061-4FA6-908C-FF1913BBCE99}" ma:internalName="CSXSubmissionMarket" ma:readOnly="false" ma:showField="MarketName" ma:web="c66daf58-3c46-4c48-8560-c485e881f7f9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c3aa597f-d352-4d18-b6bb-dd7b199309e2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4424DF09-D473-47CB-8F99-CE4C88C30A56}" ma:internalName="InProjectListLookup" ma:readOnly="true" ma:showField="InProjectLis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c392861a-3365-44e0-a108-b907e1530f9f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4424DF09-D473-47CB-8F99-CE4C88C30A56}" ma:internalName="LastCompleteVersionLookup" ma:readOnly="true" ma:showField="LastComplete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4424DF09-D473-47CB-8F99-CE4C88C30A56}" ma:internalName="LastPreviewErrorLookup" ma:readOnly="true" ma:showField="LastPreview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4424DF09-D473-47CB-8F99-CE4C88C30A56}" ma:internalName="LastPreviewResultLookup" ma:readOnly="true" ma:showField="LastPreview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4424DF09-D473-47CB-8F99-CE4C88C30A56}" ma:internalName="LastPreviewAttemptDateLookup" ma:readOnly="true" ma:showField="LastPreview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4424DF09-D473-47CB-8F99-CE4C88C30A56}" ma:internalName="LastPreviewedByLookup" ma:readOnly="true" ma:showField="LastPreview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4424DF09-D473-47CB-8F99-CE4C88C30A56}" ma:internalName="LastPreviewTimeLookup" ma:readOnly="true" ma:showField="LastPreview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4424DF09-D473-47CB-8F99-CE4C88C30A56}" ma:internalName="LastPreviewVersionLookup" ma:readOnly="true" ma:showField="LastPreview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4424DF09-D473-47CB-8F99-CE4C88C30A56}" ma:internalName="LastPublishErrorLookup" ma:readOnly="true" ma:showField="LastPublish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4424DF09-D473-47CB-8F99-CE4C88C30A56}" ma:internalName="LastPublishResultLookup" ma:readOnly="true" ma:showField="LastPublish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4424DF09-D473-47CB-8F99-CE4C88C30A56}" ma:internalName="LastPublishAttemptDateLookup" ma:readOnly="true" ma:showField="LastPublish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4424DF09-D473-47CB-8F99-CE4C88C30A56}" ma:internalName="LastPublishedByLookup" ma:readOnly="true" ma:showField="LastPublish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4424DF09-D473-47CB-8F99-CE4C88C30A56}" ma:internalName="LastPublishTimeLookup" ma:readOnly="true" ma:showField="LastPublish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4424DF09-D473-47CB-8F99-CE4C88C30A56}" ma:internalName="LastPublishVersionLookup" ma:readOnly="true" ma:showField="LastPublish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02123C9-D1B3-425D-A38A-7FDEACDA3FC6}" ma:internalName="LocLastLocAttemptVersionLookup" ma:readOnly="false" ma:showField="LastLocAttemptVersion" ma:web="c66daf58-3c46-4c48-8560-c485e881f7f9">
      <xsd:simpleType>
        <xsd:restriction base="dms:Lookup"/>
      </xsd:simpleType>
    </xsd:element>
    <xsd:element name="LocLastLocAttemptVersionTypeLookup" ma:index="72" nillable="true" ma:displayName="Loc Last Loc Attempt Version Type" ma:default="" ma:list="{B02123C9-D1B3-425D-A38A-7FDEACDA3FC6}" ma:internalName="LocLastLocAttemptVersionTypeLookup" ma:readOnly="true" ma:showField="LastLocAttemptVersionType" ma:web="c66daf58-3c46-4c48-8560-c485e881f7f9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02123C9-D1B3-425D-A38A-7FDEACDA3FC6}" ma:internalName="LocNewPublishedVersionLookup" ma:readOnly="true" ma:showField="NewPublishedVersion" ma:web="c66daf58-3c46-4c48-8560-c485e881f7f9">
      <xsd:simpleType>
        <xsd:restriction base="dms:Lookup"/>
      </xsd:simpleType>
    </xsd:element>
    <xsd:element name="LocOverallHandbackStatusLookup" ma:index="76" nillable="true" ma:displayName="Loc Overall Handback Status" ma:default="" ma:list="{B02123C9-D1B3-425D-A38A-7FDEACDA3FC6}" ma:internalName="LocOverallHandbackStatusLookup" ma:readOnly="true" ma:showField="OverallHandbackStatus" ma:web="c66daf58-3c46-4c48-8560-c485e881f7f9">
      <xsd:simpleType>
        <xsd:restriction base="dms:Lookup"/>
      </xsd:simpleType>
    </xsd:element>
    <xsd:element name="LocOverallLocStatusLookup" ma:index="77" nillable="true" ma:displayName="Loc Overall Localize Status" ma:default="" ma:list="{B02123C9-D1B3-425D-A38A-7FDEACDA3FC6}" ma:internalName="LocOverallLocStatusLookup" ma:readOnly="true" ma:showField="OverallLocStatus" ma:web="c66daf58-3c46-4c48-8560-c485e881f7f9">
      <xsd:simpleType>
        <xsd:restriction base="dms:Lookup"/>
      </xsd:simpleType>
    </xsd:element>
    <xsd:element name="LocOverallPreviewStatusLookup" ma:index="78" nillable="true" ma:displayName="Loc Overall Preview Status" ma:default="" ma:list="{B02123C9-D1B3-425D-A38A-7FDEACDA3FC6}" ma:internalName="LocOverallPreviewStatusLookup" ma:readOnly="true" ma:showField="OverallPreviewStatus" ma:web="c66daf58-3c46-4c48-8560-c485e881f7f9">
      <xsd:simpleType>
        <xsd:restriction base="dms:Lookup"/>
      </xsd:simpleType>
    </xsd:element>
    <xsd:element name="LocOverallPublishStatusLookup" ma:index="79" nillable="true" ma:displayName="Loc Overall Publish Status" ma:default="" ma:list="{B02123C9-D1B3-425D-A38A-7FDEACDA3FC6}" ma:internalName="LocOverallPublishStatusLookup" ma:readOnly="true" ma:showField="OverallPublishStatus" ma:web="c66daf58-3c46-4c48-8560-c485e881f7f9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02123C9-D1B3-425D-A38A-7FDEACDA3FC6}" ma:internalName="LocProcessedForHandoffsLookup" ma:readOnly="true" ma:showField="ProcessedForHandoffs" ma:web="c66daf58-3c46-4c48-8560-c485e881f7f9">
      <xsd:simpleType>
        <xsd:restriction base="dms:Lookup"/>
      </xsd:simpleType>
    </xsd:element>
    <xsd:element name="LocProcessedForMarketsLookup" ma:index="82" nillable="true" ma:displayName="Loc Processed For Markets" ma:default="" ma:list="{B02123C9-D1B3-425D-A38A-7FDEACDA3FC6}" ma:internalName="LocProcessedForMarketsLookup" ma:readOnly="true" ma:showField="ProcessedForMarkets" ma:web="c66daf58-3c46-4c48-8560-c485e881f7f9">
      <xsd:simpleType>
        <xsd:restriction base="dms:Lookup"/>
      </xsd:simpleType>
    </xsd:element>
    <xsd:element name="LocPublishedDependentAssetsLookup" ma:index="83" nillable="true" ma:displayName="Loc Published Dependent Assets" ma:default="" ma:list="{B02123C9-D1B3-425D-A38A-7FDEACDA3FC6}" ma:internalName="LocPublishedDependentAssetsLookup" ma:readOnly="true" ma:showField="PublishedDependentAssets" ma:web="c66daf58-3c46-4c48-8560-c485e881f7f9">
      <xsd:simpleType>
        <xsd:restriction base="dms:Lookup"/>
      </xsd:simpleType>
    </xsd:element>
    <xsd:element name="LocPublishedLinkedAssetsLookup" ma:index="84" nillable="true" ma:displayName="Loc Published Linked Assets" ma:default="" ma:list="{B02123C9-D1B3-425D-A38A-7FDEACDA3FC6}" ma:internalName="LocPublishedLinkedAssetsLookup" ma:readOnly="true" ma:showField="PublishedLinkedAssets" ma:web="c66daf58-3c46-4c48-8560-c485e881f7f9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8612d4a4-f894-4474-9fef-d579f90c35e1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5EEE958E-8061-4FA6-908C-FF1913BBCE99}" ma:internalName="Markets" ma:readOnly="false" ma:showField="MarketNa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4424DF09-D473-47CB-8F99-CE4C88C30A56}" ma:internalName="NumOfRatingsLookup" ma:readOnly="true" ma:showField="NumOfRating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4424DF09-D473-47CB-8F99-CE4C88C30A56}" ma:internalName="PublishStatusLookup" ma:readOnly="false" ma:showField="PublishStatu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8e26204e-beeb-4929-ac8b-f970debed3f2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a0cdb01e-f835-423d-bf84-41ea51f83b24}" ma:internalName="TaxCatchAll" ma:showField="CatchAllData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a0cdb01e-f835-423d-bf84-41ea51f83b24}" ma:internalName="TaxCatchAllLabel" ma:readOnly="true" ma:showField="CatchAllDataLabel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ea6d1-e150-4704-b47c-0a92d6aed38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836B0F-2395-43B9-BBEF-90A78CA70F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D91B05-EE62-488D-A77F-C7BE0D6F624B}">
  <ds:schemaRefs>
    <ds:schemaRef ds:uri="http://schemas.microsoft.com/office/2006/metadata/properties"/>
    <ds:schemaRef ds:uri="http://schemas.microsoft.com/office/infopath/2007/PartnerControls"/>
    <ds:schemaRef ds:uri="c66daf58-3c46-4c48-8560-c485e881f7f9"/>
    <ds:schemaRef ds:uri="8e8ea6d1-e150-4704-b47c-0a92d6aed386"/>
  </ds:schemaRefs>
</ds:datastoreItem>
</file>

<file path=customXml/itemProps3.xml><?xml version="1.0" encoding="utf-8"?>
<ds:datastoreItem xmlns:ds="http://schemas.openxmlformats.org/officeDocument/2006/customXml" ds:itemID="{5DB3ED21-A1EF-489C-A546-CA509DBC5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6daf58-3c46-4c48-8560-c485e881f7f9"/>
    <ds:schemaRef ds:uri="8e8ea6d1-e150-4704-b47c-0a92d6aed3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銷售策略簡報，Facet 佈景主題 (寬螢幕)</Template>
  <TotalTime>262</TotalTime>
  <Words>294</Words>
  <Application>Microsoft Macintosh PowerPoint</Application>
  <PresentationFormat>Widescreen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 UI</vt:lpstr>
      <vt:lpstr>Aptos</vt:lpstr>
      <vt:lpstr>Arial</vt:lpstr>
      <vt:lpstr>Wingdings 3</vt:lpstr>
      <vt:lpstr>多面向</vt:lpstr>
      <vt:lpstr>COMP2003HK Computing Group Project</vt:lpstr>
      <vt:lpstr> Project Planning Process </vt:lpstr>
      <vt:lpstr>Welcome &amp; User Login Page</vt:lpstr>
      <vt:lpstr>Design Decisions</vt:lpstr>
      <vt:lpstr>Gamification </vt:lpstr>
      <vt:lpstr>Prioritized &amp; Functionalities</vt:lpstr>
      <vt:lpstr>Technology Stack</vt:lpstr>
      <vt:lpstr>Why This Combination Works</vt:lpstr>
      <vt:lpstr>Dashboard</vt:lpstr>
      <vt:lpstr>Notification</vt:lpstr>
      <vt:lpstr>Session logging</vt:lpstr>
      <vt:lpstr>Setting  &amp; Account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a26030</dc:creator>
  <cp:lastModifiedBy>(s) Lai K Chung</cp:lastModifiedBy>
  <cp:revision>25</cp:revision>
  <dcterms:created xsi:type="dcterms:W3CDTF">2025-12-30T15:35:04Z</dcterms:created>
  <dcterms:modified xsi:type="dcterms:W3CDTF">2026-01-06T07:55:00Z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0x0101009D4095AFEE790E42B52CF3AD35B999BF040086E71550AC00CE488731BAE03648ABFB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